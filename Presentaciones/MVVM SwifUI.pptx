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94674"/>
  </p:normalViewPr>
  <p:slideViewPr>
    <p:cSldViewPr snapToGrid="0" snapToObjects="1">
      <p:cViewPr varScale="1">
        <p:scale>
          <a:sx n="102" d="100"/>
          <a:sy n="102" d="100"/>
        </p:scale>
        <p:origin x="85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32720" cy="1959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4400" b="1">
                <a:solidFill>
                  <a:srgbClr val="FFFFFF"/>
                </a:solidFill>
                <a:latin typeface="Segoe UI"/>
              </a:defRPr>
            </a:pPr>
            <a:r>
              <a:rPr dirty="0" err="1"/>
              <a:t>Patrón</a:t>
            </a:r>
            <a:r>
              <a:rPr dirty="0"/>
              <a:t> </a:t>
            </a:r>
            <a:r>
              <a:rPr dirty="0" err="1"/>
              <a:t>Arquitectónico</a:t>
            </a:r>
            <a:r>
              <a:rPr dirty="0"/>
              <a:t> MVVM</a:t>
            </a:r>
          </a:p>
          <a:p>
            <a:pPr>
              <a:spcAft>
                <a:spcPts val="4800"/>
              </a:spcAft>
              <a:defRPr sz="2000">
                <a:solidFill>
                  <a:srgbClr val="6785C1"/>
                </a:solidFill>
                <a:latin typeface="Segoe UI"/>
              </a:defRPr>
            </a:pPr>
            <a:r>
              <a:rPr dirty="0" err="1"/>
              <a:t>Ecosistema</a:t>
            </a:r>
            <a:r>
              <a:rPr dirty="0"/>
              <a:t> </a:t>
            </a:r>
            <a:r>
              <a:rPr dirty="0" err="1"/>
              <a:t>Reactivo</a:t>
            </a:r>
            <a:r>
              <a:rPr dirty="0"/>
              <a:t> y </a:t>
            </a:r>
            <a:r>
              <a:rPr dirty="0" err="1"/>
              <a:t>Declarativo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SwiftUI</a:t>
            </a:r>
            <a:endParaRPr dirty="0"/>
          </a:p>
          <a:p>
            <a:pPr>
              <a:defRPr sz="1400">
                <a:solidFill>
                  <a:srgbClr val="FFFFFF"/>
                </a:solidFill>
                <a:latin typeface="Segoe UI"/>
              </a:defRPr>
            </a:pPr>
            <a:r>
              <a:rPr dirty="0"/>
              <a:t>Ariana</a:t>
            </a:r>
            <a:r>
              <a:rPr lang="es-419" dirty="0"/>
              <a:t> del Carpio Flores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2743200" cy="54864"/>
          </a:xfrm>
          <a:prstGeom prst="rect">
            <a:avLst/>
          </a:prstGeom>
          <a:solidFill>
            <a:srgbClr val="0172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172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C50"/>
                </a:solidFill>
                <a:latin typeface="Segoe UI"/>
              </a:defRPr>
            </a:pPr>
            <a:r>
              <a:t>1. Responsabilidades de las Capas (MVVM)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spcAft>
                <a:spcPts val="1400"/>
              </a:spcAft>
              <a:defRPr sz="1800" b="1">
                <a:solidFill>
                  <a:srgbClr val="0F1C50"/>
                </a:solidFill>
                <a:latin typeface="Segoe UI"/>
              </a:defRPr>
            </a:pPr>
            <a:r>
              <a:t>MODEL</a:t>
            </a:r>
          </a:p>
          <a:p>
            <a:pPr>
              <a:spcAft>
                <a:spcPts val="800"/>
              </a:spcAft>
              <a:defRPr sz="1400" b="1">
                <a:solidFill>
                  <a:srgbClr val="0172BB"/>
                </a:solidFill>
                <a:latin typeface="Segoe UI"/>
              </a:defRPr>
            </a:pPr>
            <a:r>
              <a:t>• Gestión de datos puros</a:t>
            </a:r>
          </a:p>
          <a:p>
            <a:pPr>
              <a:spcAft>
                <a:spcPts val="1000"/>
              </a:spcAft>
              <a:defRPr sz="1300" b="0">
                <a:solidFill>
                  <a:srgbClr val="212529"/>
                </a:solidFill>
                <a:latin typeface="Segoe UI"/>
              </a:defRPr>
            </a:pPr>
            <a:r>
              <a:t>Contiene las estructuras de datos (structs), entidades de red y lógica pura del negocio.</a:t>
            </a:r>
          </a:p>
          <a:p>
            <a:pPr>
              <a:spcAft>
                <a:spcPts val="800"/>
              </a:spcAft>
              <a:defRPr sz="1400" b="1">
                <a:solidFill>
                  <a:srgbClr val="0172BB"/>
                </a:solidFill>
                <a:latin typeface="Segoe UI"/>
              </a:defRPr>
            </a:pPr>
            <a:r>
              <a:t>• Desacoplamiento total</a:t>
            </a:r>
          </a:p>
          <a:p>
            <a:pPr>
              <a:spcAft>
                <a:spcPts val="800"/>
              </a:spcAft>
              <a:defRPr sz="1300" b="0">
                <a:solidFill>
                  <a:srgbClr val="212529"/>
                </a:solidFill>
                <a:latin typeface="Segoe UI"/>
              </a:defRPr>
            </a:pPr>
            <a:r>
              <a:t>Es agnóstico a la interfaz gráfica. No sabe que existe SwiftUI ni cómo se van a renderizar los datos.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2918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spcAft>
                <a:spcPts val="1400"/>
              </a:spcAft>
              <a:defRPr sz="1800" b="1">
                <a:solidFill>
                  <a:srgbClr val="0F1C50"/>
                </a:solidFill>
                <a:latin typeface="Segoe UI"/>
              </a:defRPr>
            </a:pPr>
            <a:r>
              <a:t>VIEW</a:t>
            </a:r>
          </a:p>
          <a:p>
            <a:pPr>
              <a:spcAft>
                <a:spcPts val="800"/>
              </a:spcAft>
              <a:defRPr sz="1400" b="1">
                <a:solidFill>
                  <a:srgbClr val="0172BB"/>
                </a:solidFill>
                <a:latin typeface="Segoe UI"/>
              </a:defRPr>
            </a:pPr>
            <a:r>
              <a:t>• Interfaz declarativa</a:t>
            </a:r>
          </a:p>
          <a:p>
            <a:pPr>
              <a:spcAft>
                <a:spcPts val="1000"/>
              </a:spcAft>
              <a:defRPr sz="1300" b="0">
                <a:solidFill>
                  <a:srgbClr val="212529"/>
                </a:solidFill>
                <a:latin typeface="Segoe UI"/>
              </a:defRPr>
            </a:pPr>
            <a:r>
              <a:t>Estructuras de SwiftUI que describen el diseño visual en función del estado de la pantalla.</a:t>
            </a:r>
          </a:p>
          <a:p>
            <a:pPr>
              <a:spcAft>
                <a:spcPts val="800"/>
              </a:spcAft>
              <a:defRPr sz="1400" b="1">
                <a:solidFill>
                  <a:srgbClr val="0172BB"/>
                </a:solidFill>
                <a:latin typeface="Segoe UI"/>
              </a:defRPr>
            </a:pPr>
            <a:r>
              <a:t>• Cero lógica pesada</a:t>
            </a:r>
          </a:p>
          <a:p>
            <a:pPr>
              <a:spcAft>
                <a:spcPts val="800"/>
              </a:spcAft>
              <a:defRPr sz="1300" b="0">
                <a:solidFill>
                  <a:srgbClr val="212529"/>
                </a:solidFill>
                <a:latin typeface="Segoe UI"/>
              </a:defRPr>
            </a:pPr>
            <a:r>
              <a:t>Su única tarea es pintar componentes y reenviar las interacciones del usuario al ViewModel.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291840" cy="4572000"/>
          </a:xfrm>
          <a:prstGeom prst="roundRect">
            <a:avLst/>
          </a:prstGeom>
          <a:solidFill>
            <a:srgbClr val="0F1C50"/>
          </a:solidFill>
          <a:ln>
            <a:solidFill>
              <a:srgbClr val="017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spcAft>
                <a:spcPts val="140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VIEWMODEL</a:t>
            </a:r>
          </a:p>
          <a:p>
            <a:pPr>
              <a:spcAft>
                <a:spcPts val="800"/>
              </a:spcAft>
              <a:defRPr sz="1400" b="1">
                <a:solidFill>
                  <a:srgbClr val="6785C1"/>
                </a:solidFill>
                <a:latin typeface="Segoe UI"/>
              </a:defRPr>
            </a:pPr>
            <a:r>
              <a:t>• Cerebro de presentación</a:t>
            </a:r>
          </a:p>
          <a:p>
            <a:pPr>
              <a:spcAft>
                <a:spcPts val="1000"/>
              </a:spcAft>
              <a:defRPr sz="1300" b="0">
                <a:solidFill>
                  <a:srgbClr val="F4F7FC"/>
                </a:solidFill>
                <a:latin typeface="Segoe UI"/>
              </a:defRPr>
            </a:pPr>
            <a:r>
              <a:t>El nexo mediador. Transforma la crudeza del Modelo en un formato amigable para que la Vista lo pinte.</a:t>
            </a:r>
          </a:p>
          <a:p>
            <a:pPr>
              <a:spcAft>
                <a:spcPts val="800"/>
              </a:spcAft>
              <a:defRPr sz="1400" b="1">
                <a:solidFill>
                  <a:srgbClr val="6785C1"/>
                </a:solidFill>
                <a:latin typeface="Segoe UI"/>
              </a:defRPr>
            </a:pPr>
            <a:r>
              <a:t>• Estado reactivo</a:t>
            </a:r>
          </a:p>
          <a:p>
            <a:pPr>
              <a:spcAft>
                <a:spcPts val="800"/>
              </a:spcAft>
              <a:defRPr sz="1300" b="0">
                <a:solidFill>
                  <a:srgbClr val="F4F7FC"/>
                </a:solidFill>
                <a:latin typeface="Segoe UI"/>
              </a:defRPr>
            </a:pPr>
            <a:r>
              <a:t>Mantiene y expone de forma segura la Fuente Única de Verdad mediante publicadores.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172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C50"/>
                </a:solidFill>
                <a:latin typeface="Segoe UI"/>
              </a:defRPr>
            </a:pPr>
            <a:r>
              <a:t>2. Diagrama de Flujo e Interacción de Datos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29260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017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0" rtlCol="0" anchor="ctr"/>
          <a:lstStyle/>
          <a:p>
            <a:pPr algn="ctr">
              <a:defRPr sz="1800" b="1">
                <a:solidFill>
                  <a:srgbClr val="0F1C50"/>
                </a:solidFill>
              </a:defRPr>
            </a:pPr>
            <a:r>
              <a:t>VISTA (View)</a:t>
            </a:r>
          </a:p>
          <a:p>
            <a:pPr algn="ctr">
              <a:defRPr sz="1300">
                <a:solidFill>
                  <a:srgbClr val="212529"/>
                </a:solidFill>
              </a:defRPr>
            </a:pPr>
            <a:r>
              <a:t>Estructura SwiftUI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2560320"/>
            <a:ext cx="2926080" cy="1645920"/>
          </a:xfrm>
          <a:prstGeom prst="roundRect">
            <a:avLst/>
          </a:prstGeom>
          <a:solidFill>
            <a:srgbClr val="0F1C50"/>
          </a:solidFill>
          <a:ln>
            <a:solidFill>
              <a:srgbClr val="017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0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VIEWMODEL</a:t>
            </a:r>
          </a:p>
          <a:p>
            <a:pPr algn="ctr">
              <a:defRPr sz="1300">
                <a:solidFill>
                  <a:srgbClr val="6785C1"/>
                </a:solidFill>
              </a:defRPr>
            </a:pPr>
            <a:r>
              <a:t>Clase Observable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2560320"/>
            <a:ext cx="29260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0" rtlCol="0" anchor="ctr"/>
          <a:lstStyle/>
          <a:p>
            <a:pPr algn="ctr">
              <a:defRPr sz="1800" b="1">
                <a:solidFill>
                  <a:srgbClr val="0F1C50"/>
                </a:solidFill>
              </a:defRPr>
            </a:pPr>
            <a:r>
              <a:t>MODELO (Model)</a:t>
            </a:r>
          </a:p>
          <a:p>
            <a:pPr algn="ctr">
              <a:defRPr sz="1300">
                <a:solidFill>
                  <a:srgbClr val="212529"/>
                </a:solidFill>
              </a:defRPr>
            </a:pPr>
            <a:r>
              <a:t>Estructura de Datos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1031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172BB"/>
                </a:solidFill>
              </a:defRPr>
            </a:pPr>
            <a:r>
              <a:t>Acción 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21031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172BB"/>
                </a:solidFill>
              </a:defRPr>
            </a:pPr>
            <a:r>
              <a:t>Modifica 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42976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C50"/>
                </a:solidFill>
              </a:defRPr>
            </a:pPr>
            <a:r>
              <a:t>◀ Notifica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42976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C50"/>
                </a:solidFill>
              </a:defRPr>
            </a:pPr>
            <a:r>
              <a:t>◀ Renders / @Published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120640"/>
            <a:ext cx="10728655" cy="914400"/>
          </a:xfrm>
          <a:prstGeom prst="rect">
            <a:avLst/>
          </a:prstGeom>
          <a:solidFill>
            <a:srgbClr val="E6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tlCol="0" anchor="ctr"/>
          <a:lstStyle/>
          <a:p>
            <a:pPr algn="ctr">
              <a:spcAft>
                <a:spcPts val="200"/>
              </a:spcAft>
              <a:defRPr sz="1300" b="1">
                <a:solidFill>
                  <a:srgbClr val="0F1C50"/>
                </a:solidFill>
                <a:latin typeface="Segoe UI"/>
              </a:defRPr>
            </a:pPr>
            <a:r>
              <a:t>Explicación del flujo continuo:</a:t>
            </a:r>
          </a:p>
          <a:p>
            <a:pPr>
              <a:spcAft>
                <a:spcPts val="800"/>
              </a:spcAft>
              <a:defRPr sz="1200" b="0">
                <a:solidFill>
                  <a:srgbClr val="212529"/>
                </a:solidFill>
                <a:latin typeface="Segoe UI"/>
              </a:defRPr>
            </a:pPr>
            <a:r>
              <a:t>El usuario interactúa con la Vista ➔ La Vista notifica un evento al ViewModel ➔ El ViewModel procesa la lógica y altera el Modelo ➔ Al cambiar el Modelo, el ViewModel publica el nuevo estado reactivo ➔ La Vista se entera instantáneamente y se redibuja sola.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8BDF4B53-EEBF-2F29-55E3-42E20D48B4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017" y="787261"/>
            <a:ext cx="10971660" cy="427909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172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C50"/>
                </a:solidFill>
                <a:latin typeface="Segoe UI"/>
              </a:defRPr>
            </a:pPr>
            <a:r>
              <a:t>3. El Enfoque Declarativo y Reactivo de SwiftUI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F1C50"/>
                </a:solidFill>
                <a:latin typeface="Segoe UI"/>
              </a:defRPr>
            </a:pPr>
            <a:r>
              <a:t>Modelo Declarativo</a:t>
            </a:r>
          </a:p>
          <a:p>
            <a:pPr>
              <a:spcAft>
                <a:spcPts val="1400"/>
              </a:spcAft>
              <a:defRPr sz="1400" b="0">
                <a:solidFill>
                  <a:srgbClr val="212529"/>
                </a:solidFill>
                <a:latin typeface="Segoe UI"/>
              </a:defRPr>
            </a:pPr>
            <a:r>
              <a:t>A diferencia del enfoque tradicional imperativo (UIKit), donde escribes líneas paso a paso para alterar un elemento visual, en SwiftUI describes la UI en base a datos reales.</a:t>
            </a:r>
          </a:p>
          <a:p>
            <a:pPr>
              <a:spcAft>
                <a:spcPts val="800"/>
              </a:spcAft>
              <a:defRPr sz="1800" b="1">
                <a:solidFill>
                  <a:srgbClr val="0F1C50"/>
                </a:solidFill>
                <a:latin typeface="Segoe UI"/>
              </a:defRPr>
            </a:pPr>
            <a:r>
              <a:t>Modelo Reactivo</a:t>
            </a:r>
          </a:p>
          <a:p>
            <a:pPr>
              <a:spcAft>
                <a:spcPts val="800"/>
              </a:spcAft>
              <a:defRPr sz="1400" b="0">
                <a:solidFill>
                  <a:srgbClr val="212529"/>
                </a:solidFill>
                <a:latin typeface="Segoe UI"/>
              </a:defRPr>
            </a:pPr>
            <a:r>
              <a:t>El framework cuenta con engranajes automáticos que observan los datos. Cuando los datos cambian, la UI reacciona destruyendo e invalidando la presentación vieja para plasmar los nuevos cambios de forma óptima.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114800"/>
          </a:xfrm>
          <a:prstGeom prst="roundRect">
            <a:avLst/>
          </a:prstGeom>
          <a:solidFill>
            <a:srgbClr val="0F1C50"/>
          </a:solidFill>
          <a:ln>
            <a:solidFill>
              <a:srgbClr val="017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120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¿Por qué hacen match perfecto?</a:t>
            </a:r>
          </a:p>
          <a:p>
            <a:pPr>
              <a:spcAft>
                <a:spcPts val="1000"/>
              </a:spcAft>
              <a:defRPr sz="1400" b="0">
                <a:solidFill>
                  <a:srgbClr val="F4F7FC"/>
                </a:solidFill>
                <a:latin typeface="Segoe UI"/>
              </a:defRPr>
            </a:pPr>
            <a:r>
              <a:t>Porque el ViewModel calza exactamente como la "Fuente Única de Verdad".</a:t>
            </a:r>
          </a:p>
          <a:p>
            <a:pPr>
              <a:spcAft>
                <a:spcPts val="800"/>
              </a:spcAft>
              <a:defRPr sz="1400" b="0">
                <a:solidFill>
                  <a:srgbClr val="F4F7FC"/>
                </a:solidFill>
                <a:latin typeface="Segoe UI"/>
              </a:defRPr>
            </a:pPr>
            <a:r>
              <a:t>SwiftUI necesita un objeto estructurado que retenga los estados mutables de la pantalla fuera del ciclo de dibujo gráfico de las vistas. MVVM resuelve esto dándole un hogar limpio e independiente a la lógica.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172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C50"/>
                </a:solidFill>
                <a:latin typeface="Segoe UI"/>
              </a:defRPr>
            </a:pPr>
            <a:r>
              <a:t>4. Conectores Críticos: ObservableObject y @Published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F1C50"/>
                </a:solidFill>
                <a:latin typeface="Segoe UI"/>
              </a:defRPr>
            </a:pPr>
            <a:r>
              <a:t>1. Protocolo ObservableObject (Combine Framework)</a:t>
            </a:r>
          </a:p>
          <a:p>
            <a:pPr>
              <a:spcAft>
                <a:spcPts val="1200"/>
              </a:spcAft>
              <a:defRPr sz="1400" b="0">
                <a:solidFill>
                  <a:srgbClr val="212529"/>
                </a:solidFill>
                <a:latin typeface="Segoe UI"/>
              </a:defRPr>
            </a:pPr>
            <a:r>
              <a:t>• Es aplicado exclusivamente a clases, convirtiendo al ViewModel en una fuente emisora de eventos en tiempo real.</a:t>
            </a:r>
          </a:p>
          <a:p>
            <a:pPr>
              <a:spcAft>
                <a:spcPts val="800"/>
              </a:spcAft>
              <a:defRPr sz="1800" b="1">
                <a:solidFill>
                  <a:srgbClr val="0F1C50"/>
                </a:solidFill>
                <a:latin typeface="Segoe UI"/>
              </a:defRPr>
            </a:pPr>
            <a:r>
              <a:t>2. Property Wrapper @Published</a:t>
            </a:r>
          </a:p>
          <a:p>
            <a:pPr>
              <a:spcAft>
                <a:spcPts val="1200"/>
              </a:spcAft>
              <a:defRPr sz="1400" b="0">
                <a:solidFill>
                  <a:srgbClr val="212529"/>
                </a:solidFill>
                <a:latin typeface="Segoe UI"/>
              </a:defRPr>
            </a:pPr>
            <a:r>
              <a:t>• Se antepone a las variables internas del ViewModel. Funciona de manera automatizada: cada vez que la variable sufre una mutación, dispara una señal silenciosa llamada objectWillChange.send().</a:t>
            </a:r>
          </a:p>
          <a:p>
            <a:pPr>
              <a:spcAft>
                <a:spcPts val="800"/>
              </a:spcAft>
              <a:defRPr sz="1800" b="1">
                <a:solidFill>
                  <a:srgbClr val="0F1C50"/>
                </a:solidFill>
                <a:latin typeface="Segoe UI"/>
              </a:defRPr>
            </a:pPr>
            <a:r>
              <a:t>3. El Enlace Automático (Bindings)</a:t>
            </a:r>
          </a:p>
          <a:p>
            <a:pPr>
              <a:spcAft>
                <a:spcPts val="800"/>
              </a:spcAft>
              <a:defRPr sz="1400" b="0">
                <a:solidFill>
                  <a:srgbClr val="212529"/>
                </a:solidFill>
                <a:latin typeface="Segoe UI"/>
              </a:defRPr>
            </a:pPr>
            <a:r>
              <a:t>• Al estar conectados, SwiftUI intercepta esa señal Combine, procesa la diferencia de datos en milisegundos y actualiza de inmediato la vista en pantalla sin requerir código imperativo adicional.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172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C50"/>
                </a:solidFill>
                <a:latin typeface="Segoe UI"/>
              </a:defRPr>
            </a:pPr>
            <a:r>
              <a:t>5. Ciclos de Vida: Cuándo usar cada Property Wrapper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377440" cy="1188720"/>
          </a:xfrm>
          <a:prstGeom prst="rect">
            <a:avLst/>
          </a:prstGeom>
          <a:solidFill>
            <a:srgbClr val="0F1C50"/>
          </a:solidFill>
          <a:ln>
            <a:solidFill>
              <a:srgbClr val="017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@StateObject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1645920"/>
            <a:ext cx="411480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1300" b="0">
                <a:solidFill>
                  <a:srgbClr val="212529"/>
                </a:solidFill>
                <a:latin typeface="Segoe UI"/>
              </a:defRPr>
            </a:pPr>
            <a:r>
              <a:t>Se usa cuando la vista actual CREA el ViewModel por primera vez.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6640" y="1645920"/>
            <a:ext cx="402336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1300" b="1">
                <a:solidFill>
                  <a:srgbClr val="0172BB"/>
                </a:solidFill>
                <a:latin typeface="Segoe UI"/>
              </a:defRPr>
            </a:pPr>
            <a:r>
              <a:t>Persistente: El objeto sobrevive a los redibujos internos de la pantalla sin reiniciarse.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108960"/>
            <a:ext cx="2377440" cy="1188720"/>
          </a:xfrm>
          <a:prstGeom prst="rect">
            <a:avLst/>
          </a:prstGeom>
          <a:solidFill>
            <a:srgbClr val="0F1C50"/>
          </a:solidFill>
          <a:ln>
            <a:solidFill>
              <a:srgbClr val="017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@ObservedObject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3108960"/>
            <a:ext cx="411480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1300" b="0">
                <a:solidFill>
                  <a:srgbClr val="212529"/>
                </a:solidFill>
                <a:latin typeface="Segoe UI"/>
              </a:defRPr>
            </a:pPr>
            <a:r>
              <a:t>Se usa cuando la vista RECIBE el ViewModel ya creado por un ancestro.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3108960"/>
            <a:ext cx="402336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1300" b="0">
                <a:solidFill>
                  <a:srgbClr val="212529"/>
                </a:solidFill>
                <a:latin typeface="Segoe UI"/>
              </a:defRPr>
            </a:pPr>
            <a:r>
              <a:t>Efímero: Si la vista superior se redibuja, este objeto puede reiniciarse inesperadamente si no se maneja bien.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572000"/>
            <a:ext cx="2377440" cy="1188720"/>
          </a:xfrm>
          <a:prstGeom prst="rect">
            <a:avLst/>
          </a:prstGeom>
          <a:solidFill>
            <a:srgbClr val="0F1C50"/>
          </a:solidFill>
          <a:ln>
            <a:solidFill>
              <a:srgbClr val="017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@EnvironmentObject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4572000"/>
            <a:ext cx="411480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1300" b="0">
                <a:solidFill>
                  <a:srgbClr val="212529"/>
                </a:solidFill>
                <a:latin typeface="Segoe UI"/>
              </a:defRPr>
            </a:pPr>
            <a:r>
              <a:t>Se usa para inyectar datos globales en todo el árbol de vistas secundarias.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4572000"/>
            <a:ext cx="402336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1300" b="0">
                <a:solidFill>
                  <a:srgbClr val="212529"/>
                </a:solidFill>
                <a:latin typeface="Segoe UI"/>
              </a:defRPr>
            </a:pPr>
            <a:r>
              <a:t>Global: Se inyecta una única vez en un ancestro común y cualquier vista hija puede leerlo directamente.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172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C50"/>
                </a:solidFill>
                <a:latin typeface="Segoe UI"/>
              </a:defRPr>
            </a:pPr>
            <a:r>
              <a:t>6. Caso de Código Práctico: Un Contador Mínimo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8827" y="1265129"/>
            <a:ext cx="5761973" cy="4769911"/>
          </a:xfrm>
          <a:prstGeom prst="roundRect">
            <a:avLst/>
          </a:prstGeom>
          <a:solidFill>
            <a:srgbClr val="0F1C50"/>
          </a:solidFill>
          <a:ln>
            <a:solidFill>
              <a:srgbClr val="017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tlCol="0" anchor="ctr"/>
          <a:lstStyle/>
          <a:p>
            <a:pPr>
              <a:defRPr sz="1100">
                <a:solidFill>
                  <a:srgbClr val="FFFFFF"/>
                </a:solidFill>
                <a:latin typeface="Courier New"/>
              </a:defRPr>
            </a:pPr>
            <a:endParaRPr lang="es-419" dirty="0"/>
          </a:p>
          <a:p>
            <a:pPr>
              <a:defRPr sz="1100">
                <a:solidFill>
                  <a:srgbClr val="FFFFFF"/>
                </a:solidFill>
                <a:latin typeface="Courier New"/>
              </a:defRPr>
            </a:pPr>
            <a:endParaRPr lang="es-419" dirty="0"/>
          </a:p>
          <a:p>
            <a:pPr>
              <a:defRPr sz="1100">
                <a:solidFill>
                  <a:srgbClr val="FFFFFF"/>
                </a:solidFill>
                <a:latin typeface="Courier New"/>
              </a:defRPr>
            </a:pPr>
            <a:r>
              <a:rPr dirty="0"/>
              <a:t>import </a:t>
            </a:r>
            <a:r>
              <a:rPr dirty="0" err="1"/>
              <a:t>SwiftUI</a:t>
            </a:r>
            <a:br>
              <a:rPr dirty="0"/>
            </a:br>
            <a:br>
              <a:rPr dirty="0"/>
            </a:br>
            <a:r>
              <a:rPr dirty="0"/>
              <a:t>// 1. MODEL</a:t>
            </a:r>
            <a:br>
              <a:rPr dirty="0"/>
            </a:br>
            <a:r>
              <a:rPr dirty="0"/>
              <a:t>struct Contador {</a:t>
            </a:r>
            <a:br>
              <a:rPr dirty="0"/>
            </a:br>
            <a:r>
              <a:rPr dirty="0"/>
              <a:t>    var clicks: Int = 0</a:t>
            </a:r>
            <a:br>
              <a:rPr dirty="0"/>
            </a:br>
            <a:r>
              <a:rPr dirty="0"/>
              <a:t>}</a:t>
            </a:r>
            <a:br>
              <a:rPr dirty="0"/>
            </a:br>
            <a:br>
              <a:rPr dirty="0"/>
            </a:br>
            <a:r>
              <a:rPr dirty="0"/>
              <a:t>// 2. VIEWMODEL</a:t>
            </a:r>
            <a:br>
              <a:rPr dirty="0"/>
            </a:br>
            <a:r>
              <a:rPr dirty="0"/>
              <a:t>class </a:t>
            </a:r>
            <a:r>
              <a:rPr dirty="0" err="1"/>
              <a:t>ContadorViewModel</a:t>
            </a:r>
            <a:r>
              <a:rPr dirty="0"/>
              <a:t>: </a:t>
            </a:r>
            <a:r>
              <a:rPr dirty="0" err="1"/>
              <a:t>ObservableObject</a:t>
            </a:r>
            <a:r>
              <a:rPr dirty="0"/>
              <a:t> {</a:t>
            </a:r>
            <a:br>
              <a:rPr dirty="0"/>
            </a:br>
            <a:r>
              <a:rPr dirty="0"/>
              <a:t>    @Published var </a:t>
            </a:r>
            <a:r>
              <a:rPr dirty="0" err="1"/>
              <a:t>modelo</a:t>
            </a:r>
            <a:r>
              <a:rPr dirty="0"/>
              <a:t> = Contador()</a:t>
            </a:r>
            <a:br>
              <a:rPr dirty="0"/>
            </a:br>
            <a:r>
              <a:rPr dirty="0"/>
              <a:t>    </a:t>
            </a:r>
            <a:br>
              <a:rPr dirty="0"/>
            </a:br>
            <a:r>
              <a:rPr dirty="0"/>
              <a:t>    </a:t>
            </a:r>
            <a:r>
              <a:rPr dirty="0" err="1"/>
              <a:t>func</a:t>
            </a:r>
            <a:r>
              <a:rPr dirty="0"/>
              <a:t> </a:t>
            </a:r>
            <a:r>
              <a:rPr dirty="0" err="1"/>
              <a:t>incrementar</a:t>
            </a:r>
            <a:r>
              <a:rPr dirty="0"/>
              <a:t>() {</a:t>
            </a:r>
            <a:br>
              <a:rPr dirty="0"/>
            </a:br>
            <a:r>
              <a:rPr dirty="0"/>
              <a:t>        </a:t>
            </a:r>
            <a:r>
              <a:rPr dirty="0" err="1"/>
              <a:t>modelo.clicks</a:t>
            </a:r>
            <a:r>
              <a:rPr dirty="0"/>
              <a:t> += 1</a:t>
            </a:r>
            <a:br>
              <a:rPr dirty="0"/>
            </a:br>
            <a:r>
              <a:rPr dirty="0"/>
              <a:t>    }</a:t>
            </a:r>
            <a:br>
              <a:rPr dirty="0"/>
            </a:br>
            <a:r>
              <a:rPr dirty="0"/>
              <a:t>}</a:t>
            </a:r>
            <a:br>
              <a:rPr dirty="0"/>
            </a:br>
            <a:br>
              <a:rPr dirty="0"/>
            </a:br>
            <a:r>
              <a:rPr dirty="0"/>
              <a:t>// 3. VIEW</a:t>
            </a:r>
            <a:br>
              <a:rPr dirty="0"/>
            </a:br>
            <a:r>
              <a:rPr dirty="0"/>
              <a:t>struct </a:t>
            </a:r>
            <a:r>
              <a:rPr dirty="0" err="1"/>
              <a:t>ContadorView</a:t>
            </a:r>
            <a:r>
              <a:rPr dirty="0"/>
              <a:t>: View {</a:t>
            </a:r>
            <a:br>
              <a:rPr dirty="0"/>
            </a:br>
            <a:r>
              <a:rPr dirty="0"/>
              <a:t>    @</a:t>
            </a:r>
            <a:r>
              <a:rPr dirty="0" err="1"/>
              <a:t>StateObject</a:t>
            </a:r>
            <a:r>
              <a:rPr dirty="0"/>
              <a:t> private var </a:t>
            </a:r>
            <a:r>
              <a:rPr dirty="0" err="1"/>
              <a:t>vm</a:t>
            </a:r>
            <a:r>
              <a:rPr dirty="0"/>
              <a:t> = </a:t>
            </a:r>
            <a:r>
              <a:rPr dirty="0" err="1"/>
              <a:t>ContadorViewModel</a:t>
            </a:r>
            <a:r>
              <a:rPr dirty="0"/>
              <a:t>()</a:t>
            </a:r>
            <a:br>
              <a:rPr dirty="0"/>
            </a:br>
            <a:r>
              <a:rPr dirty="0"/>
              <a:t>    </a:t>
            </a:r>
            <a:br>
              <a:rPr dirty="0"/>
            </a:br>
            <a:r>
              <a:rPr dirty="0"/>
              <a:t>    var body: some View {</a:t>
            </a:r>
            <a:br>
              <a:rPr dirty="0"/>
            </a:br>
            <a:r>
              <a:rPr dirty="0"/>
              <a:t>        Button("Clicks: \(</a:t>
            </a:r>
            <a:r>
              <a:rPr dirty="0" err="1"/>
              <a:t>vm.modelo.clicks</a:t>
            </a:r>
            <a:r>
              <a:rPr dirty="0"/>
              <a:t>)") {</a:t>
            </a:r>
            <a:br>
              <a:rPr dirty="0"/>
            </a:br>
            <a:r>
              <a:rPr dirty="0"/>
              <a:t>            </a:t>
            </a:r>
            <a:r>
              <a:rPr dirty="0" err="1"/>
              <a:t>vm.incrementar</a:t>
            </a:r>
            <a:r>
              <a:rPr dirty="0"/>
              <a:t>()</a:t>
            </a:r>
            <a:br>
              <a:rPr dirty="0"/>
            </a:br>
            <a:r>
              <a:rPr dirty="0"/>
              <a:t>        }</a:t>
            </a:r>
            <a:br>
              <a:rPr dirty="0"/>
            </a:br>
            <a:r>
              <a:rPr dirty="0"/>
              <a:t>    }</a:t>
            </a:r>
            <a:br>
              <a:rPr dirty="0"/>
            </a:br>
            <a:r>
              <a:rPr dirty="0"/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F1C50"/>
                </a:solidFill>
                <a:latin typeface="Segoe UI"/>
              </a:defRPr>
            </a:pPr>
            <a:r>
              <a:t>Trazabilidad del Ejemplo:</a:t>
            </a:r>
          </a:p>
          <a:p>
            <a:pPr>
              <a:spcAft>
                <a:spcPts val="800"/>
              </a:spcAft>
              <a:defRPr sz="1400" b="1">
                <a:solidFill>
                  <a:srgbClr val="0172BB"/>
                </a:solidFill>
                <a:latin typeface="Segoe UI"/>
              </a:defRPr>
            </a:pPr>
            <a:r>
              <a:t>• Estructura Limpia:</a:t>
            </a:r>
          </a:p>
          <a:p>
            <a:pPr>
              <a:spcAft>
                <a:spcPts val="1000"/>
              </a:spcAft>
              <a:defRPr sz="1300" b="0">
                <a:solidFill>
                  <a:srgbClr val="212529"/>
                </a:solidFill>
                <a:latin typeface="Segoe UI"/>
              </a:defRPr>
            </a:pPr>
            <a:r>
              <a:t>El modelo encapsula la propiedad mutable clicks de forma segura e inmutable.</a:t>
            </a:r>
          </a:p>
          <a:p>
            <a:pPr>
              <a:spcAft>
                <a:spcPts val="800"/>
              </a:spcAft>
              <a:defRPr sz="1400" b="1">
                <a:solidFill>
                  <a:srgbClr val="0172BB"/>
                </a:solidFill>
                <a:latin typeface="Segoe UI"/>
              </a:defRPr>
            </a:pPr>
            <a:r>
              <a:t>• Binding Automatizado:</a:t>
            </a:r>
          </a:p>
          <a:p>
            <a:pPr>
              <a:spcAft>
                <a:spcPts val="800"/>
              </a:spcAft>
              <a:defRPr sz="1300" b="0">
                <a:solidFill>
                  <a:srgbClr val="212529"/>
                </a:solidFill>
                <a:latin typeface="Segoe UI"/>
              </a:defRPr>
            </a:pPr>
            <a:r>
              <a:t>La vista lee la propiedad mapeada a través del wrapper del ViewModel (vm.modelo.clicks). Al oprimir el botón, delega la acción llamando a vm.incrementar().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194560"/>
            <a:ext cx="4663456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44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¡</a:t>
            </a:r>
            <a:r>
              <a:rPr dirty="0" err="1"/>
              <a:t>Muchas</a:t>
            </a:r>
            <a:r>
              <a:rPr dirty="0"/>
              <a:t> Gracias!</a:t>
            </a:r>
          </a:p>
          <a:p>
            <a:pPr>
              <a:defRPr sz="1800">
                <a:solidFill>
                  <a:srgbClr val="6785C1"/>
                </a:solidFill>
                <a:latin typeface="Segoe UI"/>
              </a:defRPr>
            </a:pPr>
            <a:r>
              <a:rPr dirty="0"/>
              <a:t>Ariana </a:t>
            </a:r>
            <a:r>
              <a:rPr lang="es-419" dirty="0"/>
              <a:t>del Carpio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914400" y="1737360"/>
            <a:ext cx="2560320" cy="54864"/>
          </a:xfrm>
          <a:prstGeom prst="rect">
            <a:avLst/>
          </a:prstGeom>
          <a:solidFill>
            <a:srgbClr val="0172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1429</TotalTime>
  <Words>800</Words>
  <Application>Microsoft Macintosh PowerPoint</Application>
  <PresentationFormat>Panorámica</PresentationFormat>
  <Paragraphs>68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Ariana Ileen Del Carpio Flores</cp:lastModifiedBy>
  <cp:revision>2</cp:revision>
  <dcterms:created xsi:type="dcterms:W3CDTF">2013-01-27T09:14:16Z</dcterms:created>
  <dcterms:modified xsi:type="dcterms:W3CDTF">2026-07-30T18:47:36Z</dcterms:modified>
  <cp:category/>
</cp:coreProperties>
</file>