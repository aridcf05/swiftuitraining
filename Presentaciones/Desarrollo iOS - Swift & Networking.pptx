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7"/>
  </p:normalViewPr>
  <p:slideViewPr>
    <p:cSldViewPr snapToGrid="0" snapToObjects="1">
      <p:cViewPr varScale="1">
        <p:scale>
          <a:sx n="102" d="100"/>
          <a:sy n="102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809750"/>
            <a:ext cx="8241059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iOS Mobile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14575"/>
            <a:ext cx="8653112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1" i="0" u="none">
                <a:solidFill>
                  <a:srgbClr val="FFFFFF"/>
                </a:solidFill>
                <a:latin typeface="Inter"/>
              </a:rPr>
              <a:t>Desarrollo iOS:</a:t>
            </a:r>
            <a:r>
              <a:t>
</a:t>
            </a:r>
            <a:r>
              <a:rPr sz="4500" b="1" i="0" u="none">
                <a:solidFill>
                  <a:srgbClr val="0066FF"/>
                </a:solidFill>
                <a:latin typeface="Inter"/>
              </a:rPr>
              <a:t>Networking, Concurrencia &amp;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62375"/>
            <a:ext cx="7143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sz="1575" b="0" i="0" u="none">
                <a:solidFill>
                  <a:srgbClr val="94A3B8"/>
                </a:solidFill>
                <a:latin typeface="Inter"/>
              </a:rPr>
              <a:t>Guía práctica sobre Codable, peticiones HTTP con URLSession, async/await y manejo de estados en SwiftUI.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09750"/>
            <a:ext cx="182805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762500"/>
            <a:ext cx="21907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400" y="4752975"/>
            <a:ext cx="30384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 SemiBold"/>
              </a:rPr>
              <a:t>Presentado por: </a:t>
            </a:r>
            <a:r>
              <a:rPr sz="1200" b="0" i="0" u="none">
                <a:solidFill>
                  <a:srgbClr val="38BDF8"/>
                </a:solidFill>
                <a:latin typeface="Inter Black"/>
              </a:rPr>
              <a:t>Ariana del Carpio Flores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266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0775"/>
            <a:ext cx="5353050" cy="2695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90775"/>
            <a:ext cx="5353050" cy="2695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95982" y="2686050"/>
            <a:ext cx="4654956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66FF"/>
                </a:solidFill>
                <a:latin typeface="Inter"/>
              </a:rPr>
              <a:t>Decodable &amp; Encodable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48000"/>
            <a:ext cx="4762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Decodable: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Protocolo que permite transformar datos externos (como JSON) en structs o clases de Swift.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48075"/>
            <a:ext cx="4762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Encodable: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Proceso inverso; convierte objetos de Swift a formatos como JSON para enviar al servidor.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248150"/>
            <a:ext cx="4762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Codable: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Un </a:t>
            </a:r>
            <a:r>
              <a:rPr sz="1275" b="0" i="1" u="none">
                <a:solidFill>
                  <a:srgbClr val="334155"/>
                </a:solidFill>
                <a:latin typeface="Inter"/>
              </a:rPr>
              <a:t>typealias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que combina ambos (Encodable &amp; Decodable) cuando requerimos comunicación bidireccional.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3357" y="2686050"/>
            <a:ext cx="4684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66FF"/>
                </a:solidFill>
                <a:latin typeface="Inter"/>
              </a:rPr>
              <a:t>¿Para qué sirven?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05100"/>
            <a:ext cx="233957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705100"/>
            <a:ext cx="205382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57975" y="304561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048000"/>
            <a:ext cx="45720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Mapeo Automático: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Convierte claves del JSON directamente a propiedades del modelo.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362664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3629025"/>
            <a:ext cx="45720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Seguridad de Tipos: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Garantiza que los datos recibidos respeten los tipos numéricos, cadenas y fechas.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7975" y="420766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3225" y="4210050"/>
            <a:ext cx="45720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Lógica Limpia: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Elimina el parsing manual propenso a errores en diccionarios [String: Any].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848083"/>
            <a:ext cx="1160145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80F27"/>
                </a:solidFill>
                <a:latin typeface="Inter"/>
              </a:rPr>
              <a:t>¿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Qué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es Codable y Decodable?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88356"/>
            <a:ext cx="5353050" cy="3300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3895725"/>
            <a:ext cx="4800600" cy="909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43675" y="2671762"/>
            <a:ext cx="5040630" cy="228600"/>
          </a:xfrm>
          <a:prstGeom prst="rect">
            <a:avLst/>
          </a:prstGeom>
          <a:noFill/>
        </p:spPr>
        <p:txBody>
          <a:bodyPr wrap="square" lIns="186779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80F27"/>
                </a:solidFill>
                <a:latin typeface="Inter"/>
              </a:rPr>
              <a:t>Ventajas del CodingKeys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3675" y="3033712"/>
            <a:ext cx="48006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Suele haber discrepancias entre las convenciones de nombres de APIs REST (snake_case) y las de Swift (camelCase).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2690812"/>
            <a:ext cx="186779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15125" y="4029075"/>
            <a:ext cx="4495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1E3A8A"/>
                </a:solidFill>
                <a:latin typeface="Inter"/>
              </a:rPr>
              <a:t>Tip de Arquitectura:</a:t>
            </a:r>
            <a:r>
              <a:rPr sz="1125" b="0" i="0" u="none">
                <a:solidFill>
                  <a:srgbClr val="1E3A8A"/>
                </a:solidFill>
                <a:latin typeface="Inter"/>
              </a:rPr>
              <a:t> También puedes usar decoder.keyDecodingStrategy = .convertFromSnakeCase para omitir el enum en mapeos estándar.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791765"/>
            <a:ext cx="1160145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Ejemplo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de Codable y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CodingKeys</a:t>
            </a:r>
            <a:endParaRPr sz="2550" b="1" i="0" u="none" dirty="0">
              <a:solidFill>
                <a:srgbClr val="080F27"/>
              </a:solidFill>
              <a:latin typeface="Inte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1262"/>
            <a:ext cx="3530649" cy="2514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81262"/>
            <a:ext cx="3530649" cy="2514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81262"/>
            <a:ext cx="3530649" cy="2514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57487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424237"/>
            <a:ext cx="172630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80F27"/>
                </a:solidFill>
                <a:latin typeface="Inter"/>
              </a:rPr>
              <a:t>¿Qué es un JSON?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48087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Formato ligero de intercambio de datos basado en texto plano con pares clave-valor. Es el estándar global en comunicaciones API REST.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5748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6974" y="3424237"/>
            <a:ext cx="20383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80F27"/>
                </a:solidFill>
                <a:latin typeface="Inter"/>
              </a:rPr>
              <a:t>Uso de JSONDecoder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3748087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Clase especializada de Swift que interpreta los bytes recibidos de la red y construye las instancias tipadas de tu modelo.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57487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6224" y="3424237"/>
            <a:ext cx="15762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80F27"/>
                </a:solidFill>
                <a:latin typeface="Inter"/>
              </a:rPr>
              <a:t>Control do/catch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3748087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La decodificación puede fallar. El bloque do/catch captura excepciones específicas como DecodingError.keyNotFound.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1274" y="2900362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099" y="2900362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4628" y="823912"/>
            <a:ext cx="1160145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80F27"/>
                </a:solidFill>
                <a:latin typeface="Inter"/>
              </a:rPr>
              <a:t>JSON y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Manejo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de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Errores</a:t>
            </a:r>
            <a:endParaRPr sz="2550" b="1" i="0" u="none" dirty="0">
              <a:solidFill>
                <a:srgbClr val="080F27"/>
              </a:solidFill>
              <a:latin typeface="Inter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03" y="357643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3950" y="4102860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30" y="2886075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71875"/>
            <a:ext cx="2430660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810" y="2886075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180" y="3571875"/>
            <a:ext cx="2430660" cy="1209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5491" y="2886075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860" y="3571875"/>
            <a:ext cx="2430660" cy="1209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8171" y="2886075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3571875"/>
            <a:ext cx="2430660" cy="12096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0757" y="3752850"/>
            <a:ext cx="2172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80F27"/>
                </a:solidFill>
                <a:latin typeface="Inter"/>
              </a:rPr>
              <a:t>API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4000500"/>
            <a:ext cx="20687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Servicio remoto que expone endpoints con métodos HTTP (GET, POST, PUT, DELETE).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437" y="3752850"/>
            <a:ext cx="2172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80F27"/>
                </a:solidFill>
                <a:latin typeface="Inter"/>
              </a:rPr>
              <a:t>URLRequest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155" y="4000500"/>
            <a:ext cx="20687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Configuración de la URL, headers (Authorization), método y body en Swift.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118" y="3752850"/>
            <a:ext cx="2172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80F27"/>
                </a:solidFill>
                <a:latin typeface="Inter"/>
              </a:rPr>
              <a:t>URLSession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7835" y="4000500"/>
            <a:ext cx="20687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Motor nativo de iOS que ejecuta la transferencia de datos en segundo plano.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8798" y="3752850"/>
            <a:ext cx="217214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80F27"/>
                </a:solidFill>
                <a:latin typeface="Inter"/>
              </a:rPr>
              <a:t>Data &amp;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0516" y="4000500"/>
            <a:ext cx="20687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Recepción del status code (200 OK) y decodificación de Data a Modelo.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824759"/>
            <a:ext cx="1160145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Flujo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de Networking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en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23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9350"/>
            <a:ext cx="5353050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419350"/>
            <a:ext cx="5353050" cy="2638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7407" y="2714625"/>
            <a:ext cx="4684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66FF"/>
                </a:solidFill>
                <a:latin typeface="Inter"/>
              </a:rPr>
              <a:t>El Problema (Callbacks)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76575"/>
            <a:ext cx="4762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Anteriormente se usaban </a:t>
            </a:r>
            <a:r>
              <a:rPr sz="1275" b="0" i="1" u="none">
                <a:solidFill>
                  <a:srgbClr val="334155"/>
                </a:solidFill>
                <a:latin typeface="Inter"/>
              </a:rPr>
              <a:t>Completion Handlers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 Provocaban el conocido "Callback Hell" con múltiples niveles de anidación.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19537"/>
            <a:ext cx="4762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Dificultad para gestionar retenciones de memoria ([weak self]) y salto explícito al hilo principal (DispatchQueue.main).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3357" y="2714625"/>
            <a:ext cx="4684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66FF"/>
                </a:solidFill>
                <a:latin typeface="Inter"/>
              </a:rPr>
              <a:t>La Solución (async/await)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076575"/>
            <a:ext cx="4762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Escribe código asíncrono que se lee como secuencial e imperativo.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76650"/>
            <a:ext cx="4762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La palabra clave await suspende la ejecución sin bloquear el hilo principal de la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276725"/>
            <a:ext cx="4762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Manejo nativo de errores mediante la propagación de throws y try.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33675"/>
            <a:ext cx="205382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733675"/>
            <a:ext cx="205382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826555"/>
            <a:ext cx="1160145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80F27"/>
                </a:solidFill>
                <a:latin typeface="Inter"/>
              </a:rPr>
              <a:t>Concurrencia Moderna: async / await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0" y="2538412"/>
            <a:ext cx="3619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Sintaxis Limpia: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Elimina cierres complejos y promueve una estructura lineal de ejecución.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3176587"/>
            <a:ext cx="3619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Seguridad de Hilos: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Swift gestiona el pool de hilos optimizando el CPU de manera automática.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4057650"/>
            <a:ext cx="3619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Integración Nativa: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Se combina perfectamente con SwiftUI y la arquitectura MVVM.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2552700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3190875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4071937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1917" y="781050"/>
            <a:ext cx="1160145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Ejemplo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de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Petición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con async/await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1519" y="806053"/>
            <a:ext cx="5300662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Estados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de Carga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393156"/>
            <a:ext cx="50482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Para garantizar una buena Experiencia de Usuario (UX), la interfaz debe representar visualmente cada etapa del ciclo de vida de los datos: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74218"/>
            <a:ext cx="5048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Estado inicial de reposo antes de solicitar información.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12368"/>
            <a:ext cx="5048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Muestra spinners (ProgressView) o esqueletos de carga.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150518"/>
            <a:ext cx="5048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Renderiza los datos recibidos en listas o componentes 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79168"/>
            <a:ext cx="5048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Informa del problema y ofrece opción de reintento.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74218"/>
            <a:ext cx="700682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12368"/>
            <a:ext cx="1033462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50518"/>
            <a:ext cx="1090612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79168"/>
            <a:ext cx="897284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03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570434"/>
            <a:ext cx="5353050" cy="4336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24625" y="2931318"/>
            <a:ext cx="5080635" cy="228600"/>
          </a:xfrm>
          <a:prstGeom prst="rect">
            <a:avLst/>
          </a:prstGeom>
          <a:noFill/>
        </p:spPr>
        <p:txBody>
          <a:bodyPr wrap="square" lIns="186779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80F27"/>
                </a:solidFill>
                <a:latin typeface="Inter"/>
              </a:rPr>
              <a:t>Patrón Estado Exhaustivo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4625" y="3274218"/>
            <a:ext cx="48387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Utilizar un enum con valores asociados imposibilita representar estados inconsistentes (por ejemplo, mostrar datos y spinner al mismo tiempo).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4117181"/>
            <a:ext cx="4838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El compilador de Swift valida que la interfaz maneje todos los casos de forma obligatoria.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69" y="2912790"/>
            <a:ext cx="186779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133" y="823912"/>
            <a:ext cx="1160145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Modelado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de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Estados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en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SwiftUI</a:t>
            </a:r>
            <a:endParaRPr sz="2550" b="1" i="0" u="none" dirty="0">
              <a:solidFill>
                <a:srgbClr val="080F27"/>
              </a:solidFill>
              <a:latin typeface="Inte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9771"/>
            <a:ext cx="5353050" cy="30375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19771"/>
            <a:ext cx="5353050" cy="3037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7407" y="2515046"/>
            <a:ext cx="4684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66FF"/>
                </a:solidFill>
                <a:latin typeface="Inter"/>
              </a:rPr>
              <a:t>AsyncImage &amp; 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876996"/>
            <a:ext cx="4762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Componente nativo de SwiftUI que descarga y renderiza imágenes remotas de forma asíncrona.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3357" y="2515046"/>
            <a:ext cx="4684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066FF"/>
                </a:solidFill>
                <a:latin typeface="Inter"/>
              </a:rPr>
              <a:t>Paginación &amp; Botón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876996"/>
            <a:ext cx="4762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Técnica para consumir grandes conjuntos de datos fragmentados en páginas (ej. 20 elementos/página).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458021"/>
            <a:ext cx="4762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Estrategia del Botón "Cargar más":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Dispara la siguiente petición page += 1 al pulsar un botón al final de la lista o mediante scroll infinito con .onAppear.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34096"/>
            <a:ext cx="205382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534096"/>
            <a:ext cx="205382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815278"/>
            <a:ext cx="1160145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AsyncImage</a:t>
            </a:r>
            <a:r>
              <a:rPr sz="2550" b="1" i="0" u="none" dirty="0">
                <a:solidFill>
                  <a:srgbClr val="080F27"/>
                </a:solidFill>
                <a:latin typeface="Inter"/>
              </a:rPr>
              <a:t> y </a:t>
            </a:r>
            <a:r>
              <a:rPr sz="2550" b="1" i="0" u="none" dirty="0" err="1">
                <a:solidFill>
                  <a:srgbClr val="080F27"/>
                </a:solidFill>
                <a:latin typeface="Inter"/>
              </a:rPr>
              <a:t>Paginación</a:t>
            </a:r>
            <a:endParaRPr sz="2550" b="1" i="0" u="none" dirty="0">
              <a:solidFill>
                <a:srgbClr val="080F27"/>
              </a:solidFill>
              <a:latin typeface="Inte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1500" y="8667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406080"/>
            <a:ext cx="3429000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3406080"/>
            <a:ext cx="3429000" cy="107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406080"/>
            <a:ext cx="3429000" cy="1076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375594"/>
            <a:ext cx="10668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RESUMEN Y BUENAS PRÁCTICAS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51819"/>
            <a:ext cx="11201400" cy="525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FFFFF"/>
                </a:solidFill>
                <a:latin typeface="Inter"/>
              </a:rPr>
              <a:t>Construyendo Apps iOS Empresariales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606105"/>
            <a:ext cx="318039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1. Arquitectura Limpia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882330"/>
            <a:ext cx="3028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Separa capa de red, modelos Codable y vista SwiftUI con MVVM.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606105"/>
            <a:ext cx="318039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2. Concurrencia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882330"/>
            <a:ext cx="3028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Aprovecha async/await para garantizar un hilo de UI fluido al 100%.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1025" y="3606105"/>
            <a:ext cx="318039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3. Experiencia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1025" y="3882330"/>
            <a:ext cx="3028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Representa claramente la carga, errores, placeholders y paginación.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962" y="4395787"/>
            <a:ext cx="5172075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95561" y="2678025"/>
            <a:ext cx="70008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419" sz="3900" b="1" dirty="0">
                <a:solidFill>
                  <a:srgbClr val="FFFFFF"/>
                </a:solidFill>
                <a:latin typeface="Inter"/>
              </a:rPr>
              <a:t>Muchas gracias</a:t>
            </a:r>
            <a:endParaRPr sz="3900" b="1" i="0" u="none" dirty="0">
              <a:solidFill>
                <a:srgbClr val="FFFFFF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755</Words>
  <Application>Microsoft Macintosh PowerPoint</Application>
  <PresentationFormat>Panorámica</PresentationFormat>
  <Paragraphs>73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Inter</vt:lpstr>
      <vt:lpstr>Inter Black</vt:lpstr>
      <vt:lpstr>Inter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Ariana Ileen Del Carpio Flores</cp:lastModifiedBy>
  <cp:revision>2</cp:revision>
  <dcterms:created xsi:type="dcterms:W3CDTF">2013-01-27T09:14:16Z</dcterms:created>
  <dcterms:modified xsi:type="dcterms:W3CDTF">2026-07-24T15:04:49Z</dcterms:modified>
  <cp:category/>
</cp:coreProperties>
</file>